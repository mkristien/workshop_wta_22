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E9249E-1F99-4C0A-9200-EBA2DA369CF5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B0AFD1-235A-46EF-B804-0E35785967B0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FFFC1E-BC88-49A9-8C88-4A9EEBCCCB30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328941-F2F7-4A06-B4DC-025B572E26B3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1EEECD-E4E5-4DA1-9D52-4D25F46EB915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2344B7-796D-4C88-8935-CEAB732472E7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7CD802-2D87-4AED-AA93-E076BABFF3CB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5CE7BD-FE2B-4A66-8DCC-6E809FEDEBDF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2439E8-836A-4CE0-91CE-ADE1A7DA9343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BA33EB-3812-420B-A3D9-1F4460FC5F66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099F9E-B253-4154-8B65-44F3DEE4E33F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://git-school.github.io/visualizing-git" TargetMode="External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hyperlink" Target="https://github.com/MunGell/awesome-for-beginners" TargetMode="External"/><Relationship Id="rId3" Type="http://schemas.openxmlformats.org/officeDocument/2006/relationships/hyperlink" Target="https://github.com/topics/good-first-issue" TargetMode="External"/><Relationship Id="rId4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0v5K4GvK4Gs&amp;ab_channel=ROBWEBsyablkom" TargetMode="External"/><Relationship Id="rId2" Type="http://schemas.openxmlformats.org/officeDocument/2006/relationships/hyperlink" Target="https://www.tutorialspoint.com/git/index.htm" TargetMode="External"/><Relationship Id="rId3" Type="http://schemas.openxmlformats.org/officeDocument/2006/relationships/hyperlink" Target="https://www.codecademy.com/learn/learn-git" TargetMode="External"/><Relationship Id="rId4" Type="http://schemas.openxmlformats.org/officeDocument/2006/relationships/hyperlink" Target="https://www.atlassian.com/git/tutorials/atlassian-git-cheatsheet" TargetMode="External"/><Relationship Id="rId5" Type="http://schemas.openxmlformats.org/officeDocument/2006/relationships/hyperlink" Target="https://www.atlassian.com/git/tutorials/advanced-overview" TargetMode="External"/><Relationship Id="rId6" Type="http://schemas.openxmlformats.org/officeDocument/2006/relationships/hyperlink" Target="https://www.toptal.com/software/trunk-based-development-git-flow" TargetMode="External"/><Relationship Id="rId7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9360" y="0"/>
            <a:ext cx="11912400" cy="6857640"/>
          </a:xfrm>
          <a:prstGeom prst="rect">
            <a:avLst/>
          </a:prstGeom>
          <a:gradFill rotWithShape="0">
            <a:gsLst>
              <a:gs pos="0">
                <a:srgbClr val="3965b5"/>
              </a:gs>
              <a:gs pos="25000">
                <a:srgbClr val="3965b5"/>
              </a:gs>
              <a:gs pos="94000">
                <a:srgbClr val="3b3838"/>
              </a:gs>
              <a:gs pos="100000">
                <a:srgbClr val="3b3838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1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561640" y="0"/>
            <a:ext cx="6629400" cy="6857640"/>
          </a:xfrm>
          <a:custGeom>
            <a:avLst/>
            <a:gdLst>
              <a:gd name="textAreaLeft" fmla="*/ -360 w 6629400"/>
              <a:gd name="textAreaRight" fmla="*/ 6629400 w 6629400"/>
              <a:gd name="textAreaTop" fmla="*/ 0 h 6857640"/>
              <a:gd name="textAreaBottom" fmla="*/ 6858000 h 6857640"/>
              <a:gd name="GluePoint1X" fmla="*/ 0 w 7554138"/>
              <a:gd name="GluePoint1Y" fmla="*/ 0 h 6857999"/>
              <a:gd name="GluePoint2X" fmla="*/ 7554138 w 7554138"/>
              <a:gd name="GluePoint2Y" fmla="*/ 0 h 6857999"/>
              <a:gd name="GluePoint3X" fmla="*/ 7554138 w 7554138"/>
              <a:gd name="GluePoint3Y" fmla="*/ 6857999 h 6857999"/>
              <a:gd name="GluePoint4X" fmla="*/ 0 w 7554138"/>
              <a:gd name="GluePoint4Y" fmla="*/ 6857999 h 685799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90040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40080" y="1055160"/>
            <a:ext cx="5760360" cy="474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66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Git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8342280" y="1638360"/>
            <a:ext cx="3330000" cy="358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k-SK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Systém správy verzií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k-SK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Martin Krištien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585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Vetvy/branches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6" name="Picture 3" descr=""/>
          <p:cNvPicPr/>
          <p:nvPr/>
        </p:nvPicPr>
        <p:blipFill>
          <a:blip r:embed="rId1"/>
          <a:srcRect l="2457" t="0" r="0" b="0"/>
          <a:stretch/>
        </p:blipFill>
        <p:spPr>
          <a:xfrm>
            <a:off x="841320" y="2516760"/>
            <a:ext cx="6235920" cy="365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854760" y="2516760"/>
            <a:ext cx="5168880" cy="365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2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http://git-school.github.io/visualizing-git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Freeform: 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7000" cy="6857640"/>
          </a:xfrm>
          <a:custGeom>
            <a:avLst/>
            <a:gdLst>
              <a:gd name="textAreaLeft" fmla="*/ 0 w 4167000"/>
              <a:gd name="textAreaRight" fmla="*/ 4167360 w 4167000"/>
              <a:gd name="textAreaTop" fmla="*/ 0 h 6857640"/>
              <a:gd name="textAreaBottom" fmla="*/ 6858000 h 6857640"/>
              <a:gd name="GluePoint1X" fmla="*/ 0 w 4167271"/>
              <a:gd name="GluePoint1Y" fmla="*/ 0 h 6858000"/>
              <a:gd name="GluePoint2X" fmla="*/ 2259550 w 4167271"/>
              <a:gd name="GluePoint2Y" fmla="*/ 0 h 6858000"/>
              <a:gd name="GluePoint3X" fmla="*/ 2387803 w 4167271"/>
              <a:gd name="GluePoint3Y" fmla="*/ 82222 h 6858000"/>
              <a:gd name="GluePoint4X" fmla="*/ 4167271 w 4167271"/>
              <a:gd name="GluePoint4Y" fmla="*/ 3429000 h 6858000"/>
              <a:gd name="GluePoint5X" fmla="*/ 2387803 w 4167271"/>
              <a:gd name="GluePoint5Y" fmla="*/ 6775779 h 6858000"/>
              <a:gd name="GluePoint6X" fmla="*/ 2259550 w 4167271"/>
              <a:gd name="GluePoint6Y" fmla="*/ 6858000 h 6858000"/>
              <a:gd name="GluePoint7X" fmla="*/ 0 w 4167271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6880" y="1153440"/>
            <a:ext cx="3200040" cy="446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Aktivita #4 – git branch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Arc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50280" y="2455200"/>
            <a:ext cx="4083120" cy="4083120"/>
          </a:xfrm>
          <a:prstGeom prst="arc">
            <a:avLst>
              <a:gd name="adj1" fmla="val 16200000"/>
              <a:gd name="adj2" fmla="val 0"/>
            </a:avLst>
          </a:prstGeom>
          <a:noFill/>
          <a:ln cap="rnd" w="1270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447440" y="591480"/>
            <a:ext cx="6906240" cy="558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Vytvor vlastnú vetvu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Checkout novú vetvu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yma</a:t>
            </a: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ž</a:t>
            </a: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súbor z predošlej hodiny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ommit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Merge novú vetvu do vetvy “main”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Freeform: 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7000" cy="6857640"/>
          </a:xfrm>
          <a:custGeom>
            <a:avLst/>
            <a:gdLst>
              <a:gd name="textAreaLeft" fmla="*/ 0 w 4167000"/>
              <a:gd name="textAreaRight" fmla="*/ 4167360 w 4167000"/>
              <a:gd name="textAreaTop" fmla="*/ 0 h 6857640"/>
              <a:gd name="textAreaBottom" fmla="*/ 6858000 h 6857640"/>
              <a:gd name="GluePoint1X" fmla="*/ 0 w 4167271"/>
              <a:gd name="GluePoint1Y" fmla="*/ 0 h 6858000"/>
              <a:gd name="GluePoint2X" fmla="*/ 2259550 w 4167271"/>
              <a:gd name="GluePoint2Y" fmla="*/ 0 h 6858000"/>
              <a:gd name="GluePoint3X" fmla="*/ 2387803 w 4167271"/>
              <a:gd name="GluePoint3Y" fmla="*/ 82222 h 6858000"/>
              <a:gd name="GluePoint4X" fmla="*/ 4167271 w 4167271"/>
              <a:gd name="GluePoint4Y" fmla="*/ 3429000 h 6858000"/>
              <a:gd name="GluePoint5X" fmla="*/ 2387803 w 4167271"/>
              <a:gd name="GluePoint5Y" fmla="*/ 6775779 h 6858000"/>
              <a:gd name="GluePoint6X" fmla="*/ 2259550 w 4167271"/>
              <a:gd name="GluePoint6Y" fmla="*/ 6858000 h 6858000"/>
              <a:gd name="GluePoint7X" fmla="*/ 0 w 4167271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"/>
          <p:cNvSpPr/>
          <p:nvPr/>
        </p:nvSpPr>
        <p:spPr>
          <a:xfrm>
            <a:off x="686880" y="1153440"/>
            <a:ext cx="3620880" cy="44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Best Practices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sk-SK" sz="4400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- Git Flow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Arc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50280" y="2455200"/>
            <a:ext cx="4083120" cy="4083120"/>
          </a:xfrm>
          <a:prstGeom prst="arc">
            <a:avLst>
              <a:gd name="adj1" fmla="val 16200000"/>
              <a:gd name="adj2" fmla="val 0"/>
            </a:avLst>
          </a:prstGeom>
          <a:noFill/>
          <a:ln cap="rnd" w="1270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3" descr=""/>
          <p:cNvPicPr/>
          <p:nvPr/>
        </p:nvPicPr>
        <p:blipFill>
          <a:blip r:embed="rId1"/>
          <a:stretch/>
        </p:blipFill>
        <p:spPr>
          <a:xfrm>
            <a:off x="4430520" y="1058760"/>
            <a:ext cx="6557040" cy="431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Freeform: 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7000" cy="6857640"/>
          </a:xfrm>
          <a:custGeom>
            <a:avLst/>
            <a:gdLst>
              <a:gd name="textAreaLeft" fmla="*/ 0 w 4167000"/>
              <a:gd name="textAreaRight" fmla="*/ 4167360 w 4167000"/>
              <a:gd name="textAreaTop" fmla="*/ 0 h 6857640"/>
              <a:gd name="textAreaBottom" fmla="*/ 6858000 h 6857640"/>
              <a:gd name="GluePoint1X" fmla="*/ 0 w 4167271"/>
              <a:gd name="GluePoint1Y" fmla="*/ 0 h 6858000"/>
              <a:gd name="GluePoint2X" fmla="*/ 2259550 w 4167271"/>
              <a:gd name="GluePoint2Y" fmla="*/ 0 h 6858000"/>
              <a:gd name="GluePoint3X" fmla="*/ 2387803 w 4167271"/>
              <a:gd name="GluePoint3Y" fmla="*/ 82222 h 6858000"/>
              <a:gd name="GluePoint4X" fmla="*/ 4167271 w 4167271"/>
              <a:gd name="GluePoint4Y" fmla="*/ 3429000 h 6858000"/>
              <a:gd name="GluePoint5X" fmla="*/ 2387803 w 4167271"/>
              <a:gd name="GluePoint5Y" fmla="*/ 6775779 h 6858000"/>
              <a:gd name="GluePoint6X" fmla="*/ 2259550 w 4167271"/>
              <a:gd name="GluePoint6Y" fmla="*/ 6858000 h 6858000"/>
              <a:gd name="GluePoint7X" fmla="*/ 0 w 4167271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"/>
          <p:cNvSpPr/>
          <p:nvPr/>
        </p:nvSpPr>
        <p:spPr>
          <a:xfrm>
            <a:off x="686880" y="1153440"/>
            <a:ext cx="3200040" cy="44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A</a:t>
            </a:r>
            <a:r>
              <a:rPr b="0" lang="sk-SK" sz="4400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k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tivita #5 – Pull Request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Arc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50280" y="2455200"/>
            <a:ext cx="4083120" cy="4083120"/>
          </a:xfrm>
          <a:prstGeom prst="arc">
            <a:avLst>
              <a:gd name="adj1" fmla="val 16200000"/>
              <a:gd name="adj2" fmla="val 0"/>
            </a:avLst>
          </a:prstGeom>
          <a:noFill/>
          <a:ln cap="rnd" w="1270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167360" y="591480"/>
            <a:ext cx="7615800" cy="55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marL="857160" indent="-51444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Vytvor novú vetvu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indent="-51444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Vytvor </a:t>
            </a: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súbor </a:t>
            </a: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“hello_world”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indent="-51444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Commit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indent="-51444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Push do vzdialenej vetvy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indent="-51444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Vytvor PR cez github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indent="-51444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Nájdi in</a:t>
            </a: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ý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 na githube a urob code review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Freeform: 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7000" cy="6857640"/>
          </a:xfrm>
          <a:custGeom>
            <a:avLst/>
            <a:gdLst>
              <a:gd name="textAreaLeft" fmla="*/ 0 w 4167000"/>
              <a:gd name="textAreaRight" fmla="*/ 4167360 w 4167000"/>
              <a:gd name="textAreaTop" fmla="*/ 0 h 6857640"/>
              <a:gd name="textAreaBottom" fmla="*/ 6858000 h 6857640"/>
              <a:gd name="GluePoint1X" fmla="*/ 0 w 4167271"/>
              <a:gd name="GluePoint1Y" fmla="*/ 0 h 6858000"/>
              <a:gd name="GluePoint2X" fmla="*/ 2259550 w 4167271"/>
              <a:gd name="GluePoint2Y" fmla="*/ 0 h 6858000"/>
              <a:gd name="GluePoint3X" fmla="*/ 2387803 w 4167271"/>
              <a:gd name="GluePoint3Y" fmla="*/ 82222 h 6858000"/>
              <a:gd name="GluePoint4X" fmla="*/ 4167271 w 4167271"/>
              <a:gd name="GluePoint4Y" fmla="*/ 3429000 h 6858000"/>
              <a:gd name="GluePoint5X" fmla="*/ 2387803 w 4167271"/>
              <a:gd name="GluePoint5Y" fmla="*/ 6775779 h 6858000"/>
              <a:gd name="GluePoint6X" fmla="*/ 2259550 w 4167271"/>
              <a:gd name="GluePoint6Y" fmla="*/ 6858000 h 6858000"/>
              <a:gd name="GluePoint7X" fmla="*/ 0 w 4167271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"/>
          <p:cNvSpPr/>
          <p:nvPr/>
        </p:nvSpPr>
        <p:spPr>
          <a:xfrm>
            <a:off x="686880" y="1153440"/>
            <a:ext cx="3200040" cy="44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Best Practices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Arc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50280" y="2455200"/>
            <a:ext cx="4083120" cy="4083120"/>
          </a:xfrm>
          <a:prstGeom prst="arc">
            <a:avLst>
              <a:gd name="adj1" fmla="val 16200000"/>
              <a:gd name="adj2" fmla="val 0"/>
            </a:avLst>
          </a:prstGeom>
          <a:noFill/>
          <a:ln cap="rnd" w="1270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4409640" y="953280"/>
            <a:ext cx="6906240" cy="46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marL="285840" indent="-228600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sk-SK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Pravidelne ukladaj veci do gitu (aspoň raz za deň)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sk-SK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Organizuj vývoj nezávislých funkcií cez vetvy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sk-SK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Daj pozor do ktorej vetvy ukladáš commit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sk-SK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Commit správy by mali byť informatívne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sk-SK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Pull-request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28600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sk-SK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Menší PR prejde rýchlejšie cez code review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28600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sk-SK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Pridaj prepojovacie linky na JIRA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28600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sk-SK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Dobrý popis zmien, screenshot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601"/>
              </a:spcAf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Freeform: 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888400">
            <a:off x="-1059120" y="-1108440"/>
            <a:ext cx="7179480" cy="5226120"/>
          </a:xfrm>
          <a:custGeom>
            <a:avLst/>
            <a:gdLst>
              <a:gd name="textAreaLeft" fmla="*/ 0 w 7179480"/>
              <a:gd name="textAreaRight" fmla="*/ 7179840 w 7179480"/>
              <a:gd name="textAreaTop" fmla="*/ 0 h 5226120"/>
              <a:gd name="textAreaBottom" fmla="*/ 5226480 h 5226120"/>
              <a:gd name="GluePoint1X" fmla="*/ 5217841 w 7179830"/>
              <a:gd name="GluePoint1Y" fmla="*/ 464824 h 5226565"/>
              <a:gd name="GluePoint2X" fmla="*/ 5222490 w 7179830"/>
              <a:gd name="GluePoint2Y" fmla="*/ 464289 h 5226565"/>
              <a:gd name="GluePoint3X" fmla="*/ 5216768 w 7179830"/>
              <a:gd name="GluePoint3Y" fmla="*/ 463394 h 5226565"/>
              <a:gd name="GluePoint4X" fmla="*/ 5217841 w 7179830"/>
              <a:gd name="GluePoint4Y" fmla="*/ 464824 h 5226565"/>
              <a:gd name="GluePoint5X" fmla="*/ 4945201 w 7179830"/>
              <a:gd name="GluePoint5Y" fmla="*/ 5226565 h 5226565"/>
              <a:gd name="GluePoint6X" fmla="*/ 140449 w 7179830"/>
              <a:gd name="GluePoint6Y" fmla="*/ 2240811 h 5226565"/>
              <a:gd name="GluePoint7X" fmla="*/ 232913 w 7179830"/>
              <a:gd name="GluePoint7Y" fmla="*/ 2052782 h 5226565"/>
              <a:gd name="GluePoint8X" fmla="*/ 375714 w 7179830"/>
              <a:gd name="GluePoint8Y" fmla="*/ 1803205 h 5226565"/>
              <a:gd name="GluePoint9X" fmla="*/ 1512756 w 7179830"/>
              <a:gd name="GluePoint9Y" fmla="*/ 638448 h 5226565"/>
              <a:gd name="GluePoint10X" fmla="*/ 2902095 w 7179830"/>
              <a:gd name="GluePoint10Y" fmla="*/ 120440 h 5226565"/>
              <a:gd name="GluePoint11X" fmla="*/ 2848453 w 7179830"/>
              <a:gd name="GluePoint11Y" fmla="*/ 125626 h 5226565"/>
              <a:gd name="GluePoint12X" fmla="*/ 1837830 w 7179830"/>
              <a:gd name="GluePoint12Y" fmla="*/ 426203 h 5226565"/>
              <a:gd name="GluePoint13X" fmla="*/ 214608 w 7179830"/>
              <a:gd name="GluePoint13Y" fmla="*/ 1882239 h 5226565"/>
              <a:gd name="GluePoint14X" fmla="*/ 91317 w 7179830"/>
              <a:gd name="GluePoint14Y" fmla="*/ 2123701 h 5226565"/>
              <a:gd name="GluePoint15X" fmla="*/ 64092 w 7179830"/>
              <a:gd name="GluePoint15Y" fmla="*/ 2193361 h 5226565"/>
              <a:gd name="GluePoint16X" fmla="*/ 0 w 7179830"/>
              <a:gd name="GluePoint16Y" fmla="*/ 2153533 h 5226565"/>
              <a:gd name="GluePoint17X" fmla="*/ 42834 w 7179830"/>
              <a:gd name="GluePoint17Y" fmla="*/ 2047277 h 5226565"/>
              <a:gd name="GluePoint18X" fmla="*/ 923582 w 7179830"/>
              <a:gd name="GluePoint18Y" fmla="*/ 915600 h 5226565"/>
              <a:gd name="GluePoint19X" fmla="*/ 2686989 w 7179830"/>
              <a:gd name="GluePoint19Y" fmla="*/ 73950 h 5226565"/>
              <a:gd name="GluePoint20X" fmla="*/ 3059983 w 7179830"/>
              <a:gd name="GluePoint20Y" fmla="*/ 20308 h 5226565"/>
              <a:gd name="GluePoint21X" fmla="*/ 3454435 w 7179830"/>
              <a:gd name="GluePoint21Y" fmla="*/ 1176 h 5226565"/>
              <a:gd name="GluePoint22X" fmla="*/ 3923806 w 7179830"/>
              <a:gd name="GluePoint22Y" fmla="*/ 49990 h 5226565"/>
              <a:gd name="GluePoint23X" fmla="*/ 5350874 w 7179830"/>
              <a:gd name="GluePoint23Y" fmla="*/ 426917 h 5226565"/>
              <a:gd name="GluePoint24X" fmla="*/ 6607360 w 7179830"/>
              <a:gd name="GluePoint24Y" fmla="*/ 1075097 h 5226565"/>
              <a:gd name="GluePoint25X" fmla="*/ 7110534 w 7179830"/>
              <a:gd name="GluePoint25Y" fmla="*/ 1541421 h 5226565"/>
              <a:gd name="GluePoint26X" fmla="*/ 7179830 w 7179830"/>
              <a:gd name="GluePoint26Y" fmla="*/ 1630542 h 5226565"/>
              <a:gd name="GluePoint27X" fmla="*/ 7136295 w 7179830"/>
              <a:gd name="GluePoint27Y" fmla="*/ 1700600 h 5226565"/>
              <a:gd name="GluePoint28X" fmla="*/ 7131140 w 7179830"/>
              <a:gd name="GluePoint28Y" fmla="*/ 1693045 h 5226565"/>
              <a:gd name="GluePoint29X" fmla="*/ 6577499 w 7179830"/>
              <a:gd name="GluePoint29Y" fmla="*/ 1148230 h 5226565"/>
              <a:gd name="GluePoint30X" fmla="*/ 5494816 w 7179830"/>
              <a:gd name="GluePoint30Y" fmla="*/ 563527 h 5226565"/>
              <a:gd name="GluePoint31X" fmla="*/ 5366967 w 7179830"/>
              <a:gd name="GluePoint31Y" fmla="*/ 514176 h 5226565"/>
              <a:gd name="GluePoint32X" fmla="*/ 5244661 w 7179830"/>
              <a:gd name="GluePoint32Y" fmla="*/ 470725 h 5226565"/>
              <a:gd name="GluePoint33X" fmla="*/ 5904822 w 7179830"/>
              <a:gd name="GluePoint33Y" fmla="*/ 815468 h 5226565"/>
              <a:gd name="GluePoint34X" fmla="*/ 7015222 w 7179830"/>
              <a:gd name="GluePoint34Y" fmla="*/ 1815185 h 5226565"/>
              <a:gd name="GluePoint35X" fmla="*/ 7040454 w 7179830"/>
              <a:gd name="GluePoint35Y" fmla="*/ 1854830 h 522656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</a:cxnLst>
            <a:rect l="textAreaLeft" t="textAreaTop" r="textAreaRight" b="textAreaBottom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41320" y="673920"/>
            <a:ext cx="3644280" cy="241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Načo je Git dobrý?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Content Placeholder 2"/>
          <p:cNvSpPr/>
          <p:nvPr/>
        </p:nvSpPr>
        <p:spPr>
          <a:xfrm>
            <a:off x="6095880" y="882360"/>
            <a:ext cx="5254560" cy="52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zdieľanie kódu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nezávislá práca na nezávislých častiach kódu, efektivita, flexibilita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porovnanie zmien v kóde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jednoduchý návrat k určitej verzii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</a:t>
            </a:r>
            <a:r>
              <a:rPr b="0" lang="sk-SK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áloha</a:t>
            </a:r>
            <a:r>
              <a:rPr b="0" lang="en-GB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/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backup k</a:t>
            </a:r>
            <a:r>
              <a:rPr b="0" lang="sk-SK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ódu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autorstvo zmien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prispievanie do open-source projektov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Content Placeholder 4" descr="A screenshot of a social media post&#10;&#10;Description automatically generated"/>
          <p:cNvPicPr/>
          <p:nvPr/>
        </p:nvPicPr>
        <p:blipFill>
          <a:blip r:embed="rId1"/>
          <a:stretch/>
        </p:blipFill>
        <p:spPr>
          <a:xfrm>
            <a:off x="890640" y="3241800"/>
            <a:ext cx="3279240" cy="30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Box 2"/>
          <p:cNvSpPr/>
          <p:nvPr/>
        </p:nvSpPr>
        <p:spPr>
          <a:xfrm>
            <a:off x="5120640" y="5477400"/>
            <a:ext cx="51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https://github.com/MunGell/awesome-for-beginners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100480" y="4911120"/>
            <a:ext cx="427212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hlinkClick r:id="rId3"/>
              </a:rPr>
              <a:t>https://github.com/topics/good-first-issue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</a:t>
            </a:r>
            <a:r>
              <a:rPr b="0" lang="sk-SK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žitočné linky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774360" y="1514520"/>
            <a:ext cx="114170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Interaktívna vizualizácia rôznych git funkcií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https://learngitbranching.js.org/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Podrobné tutoriály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https://www.youtube.com/watch?v=0v5K4GvK4Gs&amp;ab_channel=ROBWEBsyablkom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https://www.tutorialspoint.com/git/index.htm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3"/>
              </a:rPr>
              <a:t>https://www.codecademy.com/learn/learn-git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Stručné popis git funkcií (cheatsheet)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4"/>
              </a:rPr>
              <a:t>https://www.atlassian.com/git/tutorials/atlassian-git-cheatsheet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Ďalšie štúdium (pokročilé)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5"/>
              </a:rPr>
              <a:t>https://www.atlassian.com/git/tutorials/advanced-overview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6"/>
              </a:rPr>
              <a:t>https://www.toptal.com/software/trunk-based-development-git-flow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1121</TotalTime>
  <Application>LibreOffice/25.2.6.2$Linux_X86_64 LibreOffice_project/40d1a0e1d5bdf1afaeae24d9ece32bbb00fa66a4</Application>
  <AppVersion>15.0000</AppVersion>
  <Words>296</Words>
  <Paragraphs>52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2020-07-29T08:31:55Z</dcterms:created>
  <dc:creator>Martin Kristien</dc:creator>
  <dc:description/>
  <dc:language>en-US</dc:language>
  <cp:lastModifiedBy/>
  <dcterms:modified xsi:type="dcterms:W3CDTF">2025-11-27T15:48:47Z</dcterms:modified>
  <cp:revision>52</cp:revision>
  <dc:subject/>
  <dc:title>Git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